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76"/>
    <p:restoredTop sz="94673"/>
  </p:normalViewPr>
  <p:slideViewPr>
    <p:cSldViewPr snapToGrid="0">
      <p:cViewPr varScale="1">
        <p:scale>
          <a:sx n="209" d="100"/>
          <a:sy n="209" d="100"/>
        </p:scale>
        <p:origin x="1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B8D9-8913-2E56-4E6D-1944E0AC4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D9E0B-8DFF-88D0-C4E5-EA8BD03D9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EFFE7-F3A7-B15E-5553-75DD83E08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CDF44-1535-149D-A351-F8EDC8ED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D6A19-9D8A-2472-5461-3A5EFF626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435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B66C-CA02-54A7-277B-2787A55E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AFA01-A34F-CF2F-99E5-24DE78AAA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2388A-619C-0DD6-9992-18879D18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6423E-BB7A-AEC3-DBE7-481DC60F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BE5B9-CC39-609F-1EE5-4BADF22A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52170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69707-2B62-1794-2764-2E3C9B7DD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3455D-5399-1185-4BFA-BD14A697C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62AED-4049-B0BA-05A0-CAA71B5C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8F6D7-5966-CBF3-8733-18371B39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4F5DA-E529-8382-8445-5A7718A8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648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7413-4384-00F6-4D1D-9C66AD27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E9CC9-9891-2EB3-FEE6-098649F49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D04DD-354C-701E-5EF0-7E160B010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61E79-80A8-0C19-D356-7F9FE6BD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D9E43-3DEB-533E-A521-CD0695CC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A5E15-9065-62C3-C77E-E62ED557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0113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0F75F-A5E9-EF01-257A-7243FD12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D3D9C-FEF4-2FE0-9A30-ECFCC8285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6FA74-4873-4811-A1C9-08F2424BD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B818C-626C-7CB3-2A54-2F0A0A6AA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520EBA-AE33-D0D3-38BB-EED1C5B3D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42879-488E-E3B0-8325-79FBEBB9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E536E-B7CA-4301-B440-897CCA4A3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1A35C7-02F6-D0B2-6D65-88F1550A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199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5090A-4132-1263-C2D1-C4415A1C7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27F9C-89E3-B630-229C-7648A8DE0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CD883-B5FF-B6E3-B8E0-F994548F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D783C-2AF4-16F4-F5EE-001648DC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946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1DF470-9453-2AEC-AF4E-8453D1C3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D75F3-9033-98C1-43A5-F6AED60E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9266D-6464-5A55-4721-B0E0A92B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644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93EC-6172-7B8F-3849-B48E9962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9C09E-49A8-6FD0-2960-827726E5E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0F290-02E2-EBF1-E45E-251C7301B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98B30-7B16-D8DC-43AE-5AE363146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EB03A-DCBE-22A8-F1B0-F018A734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27E46-3C05-9722-5CB3-07A5F94E5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9035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0642-DDCA-73B4-4DFB-56337165A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B919D-7CA7-C2C2-AF5F-A3419FDF3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FE34C-36D2-9940-D784-80387E295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AC1FD-72B4-F744-13BC-FF054894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820F9-2288-0E5F-485C-C1053BC0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4A100-3994-62F2-112A-24BC6DF4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580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3C4B-CEB2-A37B-CCBA-E4C5745B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B7BB3-339F-6F55-A028-F1162D847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1D13E-97AF-924B-6288-80CD86A7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A2DDB-49F6-7D63-BAC5-B108045E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14E8C-00E9-4213-F1C7-92C80669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611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F15DAE-AABB-62AC-F80D-74698318A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C2BDC-2CFC-96ED-58A8-0D43E53A5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DCD5B-6B76-4F86-EE91-62FE4F5E6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E649D-D95F-EF2A-6B69-8F16FA1F8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75EA8-7323-A35B-5DCC-4C611FC8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80410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4DB8F2-9DC6-EB01-4BCD-D1B3F628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3200E-9C5C-67D0-FBED-8364CA76A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192BB-1131-2FA7-5801-8F793B95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733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F99F8-2604-474D-808F-2783666F7E51}" type="datetimeFigureOut">
              <a:rPr lang="en-IL" smtClean="0"/>
              <a:t>30/05/2026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308B4-7081-DE50-841E-A38B9BE6A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62118-3CBE-A284-FD83-1716A7A3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A74BD-19C3-D540-924C-5C618E5E2EB2}" type="slidenum">
              <a:rPr lang="en-IL" smtClean="0"/>
              <a:t>‹#›</a:t>
            </a:fld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363E03-2B77-D90A-A073-1642B83DE68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58" y="185738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A41ACC9-2811-0277-9447-B5F229CA10D7}"/>
              </a:ext>
            </a:extLst>
          </p:cNvPr>
          <p:cNvSpPr txBox="1">
            <a:spLocks/>
          </p:cNvSpPr>
          <p:nvPr userDrawn="1"/>
        </p:nvSpPr>
        <p:spPr>
          <a:xfrm>
            <a:off x="173567" y="636058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352739-273F-4728-8B1A-480EEBF683AC}" type="datetime1">
              <a:rPr lang="en-US" smtClean="0"/>
              <a:pPr/>
              <a:t>5/30/26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451E2A-90D3-2988-131A-9BADF46BA5FB}"/>
              </a:ext>
            </a:extLst>
          </p:cNvPr>
          <p:cNvSpPr txBox="1">
            <a:spLocks/>
          </p:cNvSpPr>
          <p:nvPr userDrawn="1"/>
        </p:nvSpPr>
        <p:spPr>
          <a:xfrm>
            <a:off x="11023600" y="634470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7A11E8-8F25-49C3-8F7D-865FECFDFD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66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7" Type="http://schemas.openxmlformats.org/officeDocument/2006/relationships/image" Target="../media/image11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Title"/>
          <p:cNvSpPr txBox="1"/>
          <p:nvPr/>
        </p:nvSpPr>
        <p:spPr>
          <a:xfrm>
            <a:off x="1200000" y="2150000"/>
            <a:ext cx="9792000" cy="15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4000" b="1" dirty="0">
                <a:solidFill>
                  <a:srgbClr val="1F3864"/>
                </a:solidFill>
              </a:rPr>
              <a:t>Active Noise Reduction System In a Vehicle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200000" y="3650000"/>
            <a:ext cx="9792000" cy="9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lang="en-US" sz="2000" i="1" dirty="0">
                <a:solidFill>
                  <a:srgbClr val="2E5496"/>
                </a:solidFill>
              </a:rPr>
              <a:t>FxLMS-Based Multi-Channel ANC for the Car Cabin — from SISO to Full MIMO</a:t>
            </a:r>
          </a:p>
        </p:txBody>
      </p:sp>
      <p:sp>
        <p:nvSpPr>
          <p:cNvPr id="4" name="Details"/>
          <p:cNvSpPr txBox="1"/>
          <p:nvPr/>
        </p:nvSpPr>
        <p:spPr>
          <a:xfrm>
            <a:off x="1200000" y="4750000"/>
            <a:ext cx="9792000" cy="1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en-US" sz="1600" b="1" dirty="0">
                <a:solidFill>
                  <a:srgbClr val="262626"/>
                </a:solidFill>
              </a:rPr>
              <a:t>Project No. 25-1-1-3214</a:t>
            </a:r>
          </a:p>
          <a:p>
            <a:pPr algn="ctr"/>
            <a:r>
              <a:rPr lang="en-US" sz="1500" b="0" dirty="0">
                <a:solidFill>
                  <a:srgbClr val="262626"/>
                </a:solidFill>
              </a:rPr>
              <a:t>Ariel Turnowski (206483513)   ·   Yuval Horowitz (206587719)</a:t>
            </a:r>
          </a:p>
          <a:p>
            <a:pPr algn="ctr"/>
            <a:r>
              <a:rPr lang="en-US" sz="1500" b="0" dirty="0">
                <a:solidFill>
                  <a:srgbClr val="262626"/>
                </a:solidFill>
              </a:rPr>
              <a:t>Supervisor: Dr. Lior Arbel</a:t>
            </a:r>
          </a:p>
          <a:p>
            <a:pPr algn="ctr"/>
            <a:r>
              <a:rPr lang="en-US" sz="1300" b="0" dirty="0">
                <a:solidFill>
                  <a:srgbClr val="262626"/>
                </a:solidFill>
              </a:rPr>
              <a:t>The Iby and Aladar Fleischman Faculty of Engineering, Tel Aviv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What is Active Noise Control?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Topic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52578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A microphone captures noise early; a filter computes an inverted copy; a loudspeaker radiates it so the two cancel at the ear.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Targets the low-frequency cabin noise (engine, road, wind) that passive insulation cannot economically absorb.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We build and evaluate the full system in simulation, driven by real Los-Angeles driving recordings.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Headline result: a full MIMO controller reaches +14.3 dB on idle, +12.6 dB on cruising, +9.9 dB on acceleration.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60BB4-0921-59CF-9716-09468F1C4B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303" y="2114112"/>
            <a:ext cx="5724201" cy="225672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Background — the Cancellation Principle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Topic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105156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Two coherent sound waves of equal magnitude and opposite phase sum to silence at the point where they meet.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Cancellation is local: it only holds where the anti-noise is phase-matched to the disturbance.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The reference signal is filtered and continuously adapted so the residual error at the ear is driven toward zero.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Two acoustic paths matter:</a:t>
            </a:r>
          </a:p>
          <a:p>
            <a:pPr marL="742950" lvl="1" indent="-342900">
              <a:buFont typeface="Arial"/>
              <a:buChar char="–"/>
            </a:pPr>
            <a:r>
              <a:rPr lang="en-US" sz="1615" dirty="0">
                <a:solidFill>
                  <a:srgbClr val="262626"/>
                </a:solidFill>
              </a:rPr>
              <a:t>Primary path P(z): noise source → error microphone.</a:t>
            </a:r>
          </a:p>
          <a:p>
            <a:pPr marL="742950" lvl="1" indent="-342900">
              <a:buFont typeface="Arial"/>
              <a:buChar char="–"/>
            </a:pPr>
            <a:r>
              <a:rPr lang="en-US" sz="1615" dirty="0">
                <a:solidFill>
                  <a:srgbClr val="262626"/>
                </a:solidFill>
              </a:rPr>
              <a:t>Secondary path S(z): loudspeaker → error microphone (the part that makes naive LMS unstable).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Engineering Motivation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Motivation &amp; Goals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105156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Sits at the intersection of Digital Signal Processing, acoustics and machine learning.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Improves passenger comfort and reduces driver fatigue on long drives.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Low-frequency noise (50–300 Hz) is exactly where adding mass / insulation gives the least return.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Unlike headphones or cockpit headsets, a car needs a broad zone of quiet that tolerates natural head movement — which demands a multi-channel adaptive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Project Goals &amp; Targets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Motivation &amp; Goals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="838200" y="1860000"/>
          <a:ext cx="10515600" cy="2460000"/>
        </p:xfrm>
        <a:graphic>
          <a:graphicData uri="http://schemas.openxmlformats.org/drawingml/2006/table">
            <a:tbl>
              <a:tblPr firstRow="1" bandRow="1"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 anchor="ctr"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anchor="ctr">
                    <a:solidFill>
                      <a:srgbClr val="2E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Noise reduction at driver ear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≥ 10 dB (stretch 10–20 dB)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Frequency range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20 – 1000 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Convergence time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&lt; 2 seconds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across idle / cruising / acceleration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Configurations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SISO → SIMO → full MIMO (multi-speaker / mic)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838200" y="4460000"/>
            <a:ext cx="10515600" cy="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en-US" sz="1400" i="1" dirty="0">
                <a:solidFill>
                  <a:srgbClr val="2E5496"/>
                </a:solidFill>
              </a:rPr>
              <a:t>Evaluated on real recordings, not synthetic noise — the harder and more honest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Methods — System Architecture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105156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Acoustic simulation: pyroomacoustics shoebox cabin (4.5 × 1.85 × 1.2 m), image-source reflections, frequency-dependent absorption.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Controller: Filtered-x Normalised LMS (FxNLMS) adaptive filter — the de-facto ANC standard.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Scaled across five configurations of growing channel count, SISO through full 4×4×4 MIMO.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Two ML research threads explored in parallel (step-size selection and an end-to-end neural controller).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Everything wrapped in an interactive Streamlit playground for live experimentation.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Simulation Environment &amp; Cabin Geometry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52578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Shoebox cabin at 16 kHz, reflections to order 3, per-surface absorption (carpet, headliner, glass, dashboard).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Noise source in the engine bay; 4 candidate reference mics (firewall, floor, A-pillar, dashboard).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4 loudspeakers in door / dashboard positions.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4 error mics in a 2×2 head-zone grid (±5 cm) around the driver ear.</a:t>
            </a:r>
          </a:p>
        </p:txBody>
      </p:sp>
      <p:pic>
        <p:nvPicPr>
          <p:cNvPr id="5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719" y="1860000"/>
            <a:ext cx="4656673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Excitation — Real Driving Scenarios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Methods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="838200" y="1860000"/>
          <a:ext cx="10515600" cy="1778160"/>
        </p:xfrm>
        <a:graphic>
          <a:graphicData uri="http://schemas.openxmlformats.org/drawingml/2006/table">
            <a:tbl>
              <a:tblPr firstRow="1" bandRow="1"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anchor="ctr"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Recording</a:t>
                      </a:r>
                    </a:p>
                  </a:txBody>
                  <a:tcPr anchor="ctr"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Character</a:t>
                      </a:r>
                    </a:p>
                  </a:txBody>
                  <a:tcPr anchor="ctr">
                    <a:solidFill>
                      <a:srgbClr val="2E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Idle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la_idle.wav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Stationary engine, low-frequency harmonics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Cruising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la_medium_cruise.wav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Steady tyre / wind, broadband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Acceleration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la_varying.wav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Non-stationary spectrum, transients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838200" y="4460000"/>
            <a:ext cx="10515600" cy="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en-US" sz="1400" i="1" dirty="0">
                <a:solidFill>
                  <a:srgbClr val="2E5496"/>
                </a:solidFill>
              </a:rPr>
              <a:t>Real Los-Angeles downtown driving — the acceleration clip is the regime where FxLMS is most challenged.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FxLMS → FxNLMS — the Core Algorithm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630936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FxLMS filters the reference through an estimate of the secondary path before the weight update — this is what keeps it stable.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Update rule (normalised form):</a:t>
            </a:r>
          </a:p>
          <a:p>
            <a:pPr marL="742950" lvl="1" indent="-342900">
              <a:buFont typeface="Arial"/>
              <a:buChar char="–"/>
            </a:pPr>
            <a:r>
              <a:rPr lang="en-US" sz="1615" dirty="0">
                <a:solidFill>
                  <a:srgbClr val="262626"/>
                </a:solidFill>
              </a:rPr>
              <a:t>w(n+1) = w(n) + μ · e(n) · x′(n) / (δ + ‖x′(n)‖²)</a:t>
            </a:r>
          </a:p>
          <a:p>
            <a:pPr marL="742950" lvl="1" indent="-342900">
              <a:buFont typeface="Arial"/>
              <a:buChar char="–"/>
            </a:pPr>
            <a:r>
              <a:rPr lang="en-US" sz="1615" dirty="0">
                <a:solidFill>
                  <a:srgbClr val="262626"/>
                </a:solidFill>
              </a:rPr>
              <a:t>w — filter weights;  μ — step size;  e(n) — error at the mic.</a:t>
            </a:r>
          </a:p>
          <a:p>
            <a:pPr marL="742950" lvl="1" indent="-342900">
              <a:buFont typeface="Arial"/>
              <a:buChar char="–"/>
            </a:pPr>
            <a:r>
              <a:rPr lang="en-US" sz="1615" dirty="0">
                <a:solidFill>
                  <a:srgbClr val="262626"/>
                </a:solidFill>
              </a:rPr>
              <a:t>x′(n) — reference filtered through the secondary-path estimate;  δ — regularisation.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FxLMS adapts ~16,000 times per second (one update per sample at 16 kHz).</a:t>
            </a:r>
          </a:p>
        </p:txBody>
      </p:sp>
      <p:graphicFrame>
        <p:nvGraphicFramePr>
          <p:cNvPr id="5" name="Table"/>
          <p:cNvGraphicFramePr/>
          <p:nvPr/>
        </p:nvGraphicFramePr>
        <p:xfrm>
          <a:off x="7463028" y="2060000"/>
          <a:ext cx="3890772" cy="2178160"/>
        </p:xfrm>
        <a:graphic>
          <a:graphicData uri="http://schemas.openxmlformats.org/drawingml/2006/table">
            <a:tbl>
              <a:tblPr firstRow="1" bandRow="1"/>
              <a:tblGrid>
                <a:gridCol w="1945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anchor="ctr"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2E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Filter length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512 taps (256 for MIMO)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Step size 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0.003 (0.001 for MIMO)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Regularisation δ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1e-4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Sample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16 kHz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From SISO to MIMO — the Taxonomy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105156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SISO (1×1×1): one ref, one speaker, one error mic — small zone of quiet, baseline.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Pseudo-SIMO (1×4×1): four speakers driven by ONE shared filter — cheap, but limited.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Stage 1 — true SIMO (1×4×1): four independent filters.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Stage 2 — SIMO + multi-error (1×4×4): four head-zone error mics → uniform quiet zone.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Stage 3 — full MIMO (4×4×4): four reference mics exploit different noise paths → biggest gain.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More channels = more degrees of freedom = better cancellation (at higher compute cost).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Implementation — SISO vs Pseudo-SIMO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Methods</a:t>
            </a: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0000"/>
            <a:ext cx="5107800" cy="2320677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838200" y="5900000"/>
            <a:ext cx="5107800" cy="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2E5496"/>
                </a:solidFill>
              </a:rPr>
              <a:t>SISO — sharp, tiny quiet point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00" y="1860000"/>
            <a:ext cx="5107800" cy="2647415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246000" y="5900000"/>
            <a:ext cx="5107800" cy="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2E5496"/>
                </a:solidFill>
              </a:rPr>
              <a:t>Pseudo-SIMO — wider, shared filter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Implementation — Stage 1 SIMO vs Stage 2 Multi-Error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Methods</a:t>
            </a: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0000"/>
            <a:ext cx="5107800" cy="2571813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838200" y="5900000"/>
            <a:ext cx="5107800" cy="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2E5496"/>
                </a:solidFill>
              </a:rPr>
              <a:t>Stage 1 — independent filters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00" y="1860000"/>
            <a:ext cx="5107800" cy="260179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246000" y="5900000"/>
            <a:ext cx="5107800" cy="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2E5496"/>
                </a:solidFill>
              </a:rPr>
              <a:t>Stage 2 — uniform head-zone quiet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Implementation — Stage 3 Full MIMO (4×4×4)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52578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Four reference mics feed a 4×4×256 = 4,096-weight controller.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Each reference captures a different noise path — engine via firewall, road via floor, wind via A-pillar.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Step size reduced to 0.001 to stay stable with 4× more weights.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Best result of all configurations — but ~13× real-time compute.</a:t>
            </a:r>
          </a:p>
        </p:txBody>
      </p:sp>
      <p:pic>
        <p:nvPicPr>
          <p:cNvPr id="5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312" y="2838003"/>
            <a:ext cx="5047488" cy="25439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ML Thread A — Adaptive Step-Size Selection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52578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Idea: a small classifier picks the FxLMS step size from short-term audio features.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Four attempts: synthetic-static (+0.37 dB), multi-channel (+0.06 dB), dynamic per-segment (−0.12 dB), rolling-sim labels (−0.07 dB).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Finding: FxLMS already adapts 16,000×/s — little headroom left for a 0.5-s-granularity classifier.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ML only helps when the optimum changes faster than the filter can self-tune.</a:t>
            </a:r>
          </a:p>
        </p:txBody>
      </p:sp>
      <p:pic>
        <p:nvPicPr>
          <p:cNvPr id="5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312" y="2419454"/>
            <a:ext cx="5047488" cy="33810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ML Thread B — End-to-End Neural Control (TCN)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105156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Idea: replace FxLMS with a Temporal Convolutional Network that learns anti-noise directly from the reference.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Causal dilated convolutions; secondary path placed INSIDE the training loss (the neural filtered-x idea).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Variants: baseline +2.2 dB; RIR-pre-filtered ≈ +8.9 dB (controlled); others inconsistent or amplified the noise.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Failure modes: amplitude overshoot, weak phase alignment, poor generalisation to unseen cabins.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Lesson: a black box lacks the microsecond phase/amplitude precision that FxLMS enforces structurally → we chose physics-structured MIMO.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Demonstration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Demonstration</a:t>
            </a: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070777"/>
            <a:ext cx="6309360" cy="4078446"/>
          </a:xfrm>
          <a:prstGeom prst="rect">
            <a:avLst/>
          </a:prstGeom>
        </p:spPr>
      </p:pic>
      <p:sp>
        <p:nvSpPr>
          <p:cNvPr id="5" name="DemoBody"/>
          <p:cNvSpPr txBox="1"/>
          <p:nvPr/>
        </p:nvSpPr>
        <p:spPr>
          <a:xfrm>
            <a:off x="7463028" y="1860000"/>
            <a:ext cx="3890772" cy="19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Interactive Streamlit playground: switch algorithm, scenario and transducer positions live.</a:t>
            </a:r>
          </a:p>
          <a:p>
            <a:pPr marL="342900" lvl="0" indent="-342900">
              <a:buFont typeface="Arial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Listen to the before / after on the right (embedded audio).</a:t>
            </a:r>
          </a:p>
          <a:p>
            <a:pPr marL="342900" lvl="0" indent="-342900">
              <a:buFont typeface="Arial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Live app:  streamlit run playground/app.py</a:t>
            </a:r>
          </a:p>
        </p:txBody>
      </p:sp>
      <p:pic>
        <p:nvPicPr>
          <p:cNvPr id="6" name="Original noise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463028" y="3910000"/>
            <a:ext cx="700000" cy="700000"/>
          </a:xfrm>
          <a:prstGeom prst="rect">
            <a:avLst/>
          </a:prstGeom>
        </p:spPr>
      </p:pic>
      <p:sp>
        <p:nvSpPr>
          <p:cNvPr id="7" name="AudioLbl0"/>
          <p:cNvSpPr txBox="1"/>
          <p:nvPr/>
        </p:nvSpPr>
        <p:spPr>
          <a:xfrm>
            <a:off x="8263028" y="4060000"/>
            <a:ext cx="3090772" cy="5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r>
              <a:rPr lang="en-US" sz="1500" b="1" dirty="0">
                <a:solidFill>
                  <a:srgbClr val="262626"/>
                </a:solidFill>
              </a:rPr>
              <a:t>Original noise  ▶</a:t>
            </a:r>
          </a:p>
        </p:txBody>
      </p:sp>
      <p:pic>
        <p:nvPicPr>
          <p:cNvPr id="8" name="With ANC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463028" y="4910000"/>
            <a:ext cx="700000" cy="700000"/>
          </a:xfrm>
          <a:prstGeom prst="rect">
            <a:avLst/>
          </a:prstGeom>
        </p:spPr>
      </p:pic>
      <p:sp>
        <p:nvSpPr>
          <p:cNvPr id="9" name="AudioLbl1"/>
          <p:cNvSpPr txBox="1"/>
          <p:nvPr/>
        </p:nvSpPr>
        <p:spPr>
          <a:xfrm>
            <a:off x="8263028" y="5060000"/>
            <a:ext cx="3090772" cy="5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r>
              <a:rPr lang="en-US" sz="1500" b="1" dirty="0">
                <a:solidFill>
                  <a:srgbClr val="262626"/>
                </a:solidFill>
              </a:rPr>
              <a:t>With ANC  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Results — Scenario Performance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Results</a:t>
            </a: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847" y="1860000"/>
            <a:ext cx="6652306" cy="39000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838200" y="5840000"/>
            <a:ext cx="10515600" cy="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2E5496"/>
                </a:solidFill>
              </a:rPr>
              <a:t>Five algorithms × three scenarios. Stage 3 Full MIMO wins every scenario: +14.3 / +12.6 / +9.9 dB.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Results — Spatial Field &amp; the Waterbed Effect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Results</a:t>
            </a: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0000"/>
            <a:ext cx="10515600" cy="2956877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838200" y="4896877"/>
            <a:ext cx="10515600" cy="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2E5496"/>
                </a:solidFill>
              </a:rPr>
              <a:t>Deep quiet zone at the ear, but energy is pushed up elsewhere — ANC redistributes, it does not delete.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Results — the Zone of Quiet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52578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SISO quiet zone collapses within ~5 cm of the error mic.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Multi-error Stages 2 &amp; 3 hold &gt;10 dB across a 10 cm head-zone radius.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This is the practically useful regime: the listener can move their head without losing cancellation.</a:t>
            </a:r>
          </a:p>
        </p:txBody>
      </p:sp>
      <p:pic>
        <p:nvPicPr>
          <p:cNvPr id="5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312" y="2610039"/>
            <a:ext cx="5047488" cy="29999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Conclusions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105156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All three goals met: Stage 3 reaches +14.3 dB (idle) / +9.9 dB (acceleration), converging in ~1.4 s.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More channels genuinely help — multi-reference MIMO is the biggest single jump in performance.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Transducer placement matters as much as the algorithm: position optimisation alone adds 6–8 dB.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Both ML directions lost to a well-tuned FxLMS — physics structure beat the black box 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Suggestions for Future Work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105156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Online secondary-path identification — track drift with temperature, seats and occupants (recovers lost dB).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Vectorised / GPU MIMO — bring Stage 3 from ~13× real-time into real-time on a DSP.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Long-form non-stationary audio — where adaptive step-size selection should finally pay off.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Improved neural ANC — cascaded magnitude/phase TCN with RIR pre-filtering.</a:t>
            </a:r>
          </a:p>
          <a:p>
            <a:pPr marL="342900" lvl="0" indent="-342900">
              <a:buFont typeface="Arial"/>
              <a:buChar char="•"/>
            </a:pPr>
            <a:r>
              <a:rPr lang="en-US" sz="1900" dirty="0">
                <a:solidFill>
                  <a:srgbClr val="262626"/>
                </a:solidFill>
              </a:rPr>
              <a:t>Real-cabin measurements &amp; a hardware port to validate the simulator.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Project Documentation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5257800" cy="4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Public GitHub repository with all code, simulations, plots and this presentation.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Project Book documents theory, simulation, results.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Interactive playground: streamlit run playground/app.py</a:t>
            </a:r>
          </a:p>
          <a:p>
            <a:pPr marL="342900" lvl="0" indent="-342900"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</a:rPr>
              <a:t>Reproducible: every figure has a generator script.</a:t>
            </a:r>
          </a:p>
        </p:txBody>
      </p:sp>
      <p:pic>
        <p:nvPicPr>
          <p:cNvPr id="5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312" y="2384284"/>
            <a:ext cx="5047488" cy="34514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980000"/>
            <a:ext cx="10515600" cy="7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lang="en-US" sz="3200" b="1" dirty="0">
                <a:solidFill>
                  <a:srgbClr val="1F3864"/>
                </a:solidFill>
              </a:rPr>
              <a:t>Thank You</a:t>
            </a:r>
          </a:p>
        </p:txBody>
      </p:sp>
      <p:sp>
        <p:nvSpPr>
          <p:cNvPr id="3" name="SectionTag"/>
          <p:cNvSpPr/>
          <p:nvPr/>
        </p:nvSpPr>
        <p:spPr>
          <a:xfrm>
            <a:off x="9503800" y="360000"/>
            <a:ext cx="1850000" cy="380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38200" y="1860000"/>
            <a:ext cx="10515600" cy="45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342900" lvl="0" indent="-342900" algn="ctr">
              <a:buNone/>
            </a:pPr>
            <a:r>
              <a:rPr lang="en-US" sz="2000" dirty="0">
                <a:solidFill>
                  <a:srgbClr val="262626"/>
                </a:solidFill>
              </a:rPr>
              <a:t>Active Noise Reduction System In a Vehicle — Project 25-1-1-3214</a:t>
            </a:r>
          </a:p>
          <a:p>
            <a:pPr marL="342900" lvl="0" indent="-342900" algn="ctr">
              <a:buNone/>
            </a:pPr>
            <a:r>
              <a:rPr lang="en-US" sz="2000" dirty="0">
                <a:solidFill>
                  <a:srgbClr val="262626"/>
                </a:solidFill>
              </a:rPr>
              <a:t>Ariel Turnowski   ·   Yuval Horowitz</a:t>
            </a:r>
          </a:p>
          <a:p>
            <a:pPr marL="342900" lvl="0" indent="-342900" algn="ctr">
              <a:buNone/>
            </a:pPr>
            <a:r>
              <a:rPr lang="en-US" sz="2000" dirty="0">
                <a:solidFill>
                  <a:srgbClr val="262626"/>
                </a:solidFill>
              </a:rPr>
              <a:t>Supervisor: Dr. Lior Arbel</a:t>
            </a:r>
          </a:p>
          <a:p>
            <a:pPr marL="342900" lvl="0" indent="-342900" algn="ctr">
              <a:buNone/>
            </a:pPr>
            <a:r>
              <a:rPr lang="en-US" sz="2000" dirty="0">
                <a:solidFill>
                  <a:srgbClr val="262626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4873</TotalTime>
  <Words>1543</Words>
  <Application>Microsoft Macintosh PowerPoint</Application>
  <PresentationFormat>Widescreen</PresentationFormat>
  <Paragraphs>165</Paragraphs>
  <Slides>23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Yuval Horowitz</dc:creator>
  <cp:lastModifiedBy>Yuval Horowitz</cp:lastModifiedBy>
  <cp:revision>16</cp:revision>
  <dcterms:created xsi:type="dcterms:W3CDTF">2026-01-21T07:10:56Z</dcterms:created>
  <dcterms:modified xsi:type="dcterms:W3CDTF">2026-05-30T10:30:35Z</dcterms:modified>
</cp:coreProperties>
</file>